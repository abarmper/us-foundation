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unified model for all nine biometry tasks. Two phases: self-supervised domain adaptation of DINOv2 on unlabeled ultrasound, then a supervised HRNet-style decoder with nine task-specific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the headline: three orders of magnitude between the largest and smallest task (AoP 4,000 labeled images vs IVC 38), colored by clinical domain — blue prenatal/gyn, orange intrapartum, red cardiac/vascular. Anything that trains naively on the pooled data will be an AoP model that ignores the cardiac tasks. Also note 191,170 unlabeled frames exist — they are used only in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dwelling on: we treat the metric as a design constraint rather than something measured at the end. The two strips say it visually: AoP is 59% of the labeled data but 1/9 of the score. The per-task macro average is what makes the tiny cardiac tasks decisive.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Left, Phase 1: continued DINOv2 self-supervision (DINO + iBOT + KoLeo, student/EMA-teacher) on all 191,170 unlabeled frames — no labels anywhere. The adapted encoder checkpoint seeds Phase 2. Right, Phase 2: four encoder depths feed an HRNet-style multi-resolution neck, a task router picks one of nine heads, and soft-argmax reads out sub-pixel landmark coordinates that become the clinical measurements. Every batch is task-homogeneous, because each forward pass runs exactly one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piece the paper assumes you know. The g05/g11/g17/g23 notation on the next architecture figure refers to these taps.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Off-the-shelf DINOv2 is trained on natural images; sonography has very different texture statistics, acquisition physics and artifacts. We adapt the encoder to the domain before asking it to localize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kept for questions: DINO loss over K=65,536 prototypes; iBOT masks restricted to foreground; teacher temperature annealed 0.04 to 0.07; EMA momentum 0.994 to 1.0; effective batch 256 via gradient accumulation. The 224-then-518 curriculum is the cost trick: 518 px throughout is roughly 5x more expensive per epoch, and as the ablation shows, it is not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ViT tokenization is coarse — 37×37 for a 518 image. Rather than a U-Net decoder that downsamples then climbs back, HRNet keeps a high-resolution branch alive throughout and exchanges between scales. GroupNorm everywhere, never BatchNorm: batches are task-homogeneous, so BatchNorm's eval-time running statistics would blend nine incompatible domains — training error fell while validation error stayed flat until we changed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Soft-argmax is the method, not a detail. It is what lets us train in the metric's own coordinate space. Training facts behind the last bullet: batch 64, bf16, AdamW base LR 2e-4 with 15-epoch warmup and 150-epoch cosine decay, last 4 backbone blocks unfrozen at 0.1x base LR with LLRD 0.75, EMA alpha 0.999, early-stopping patience 40, sampler temperature 0.5 (allocation proportional to sqrt of task size), affine + intensity augmentation. 312.2M parameters, 58.2M trainable; 84.4 img/s training, up to 127.3 img/s inference. Phase 2 is comparatively cheap — the expensive part was Phase 1's 96 GPU-hours.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HC, PSAX and IVC are the weak points. PSAX and IVC have both the least training data and the smallest evaluation sets (N=18, N=10), so those numbers carry real uncertainty. HC is the interesting one: 999 labeled images, an order of magnitude more than the cardiac tasks, and still the worst task — difficulty here is not explained by dataset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tasks from different domains, showing the same network handling very different anatomy and image appearance.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finding of the paper: more self-supervision is not better, and the failure is invisible unless you probe the frozen encoder. Decoder ablation over 5 folds was inconclusive — HRNet 0.0707±0.0089 vs simple decoder 0.0740±0.0068, with MRE favouring the simple one; differences are small against fold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45775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A1A1A"/>
                </a:solidFill>
                <a:latin typeface="Calibri"/>
              </a:rPr>
              <a:t>Self-Supervised Domain Adaptation with DINOv2-HRNet
for Multi-Task Ultrasound Landmark Detection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0" y="3675887"/>
            <a:ext cx="4144975" cy="0"/>
          </a:xfrm>
          <a:prstGeom prst="line">
            <a:avLst/>
          </a:prstGeom>
          <a:ln w="31750">
            <a:solidFill>
              <a:srgbClr val="6B4E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3931920"/>
            <a:ext cx="1054577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A. Panagiotakopoulou   ·   A. Barmperis   ·   V. E. Katsigiannis   ·   G. K. Matsopoulos</a:t>
            </a:r>
          </a:p>
          <a:p>
            <a:pPr algn="ctr">
              <a:spcBef>
                <a:spcPts val="700"/>
              </a:spcBef>
            </a:pPr>
            <a:r>
              <a:rPr sz="1450" b="0">
                <a:solidFill>
                  <a:srgbClr val="666666"/>
                </a:solidFill>
                <a:latin typeface="Calibri"/>
              </a:rPr>
              <a:t>Biomedical Engineering Laboratory, School of Electrical and Computer Engineering,</a:t>
            </a:r>
          </a:p>
          <a:p>
            <a:pPr algn="ctr">
              <a:spcBef>
                <a:spcPts val="700"/>
              </a:spcBef>
            </a:pPr>
            <a:r>
              <a:rPr sz="1450" b="0">
                <a:solidFill>
                  <a:srgbClr val="666666"/>
                </a:solidFill>
                <a:latin typeface="Calibri"/>
              </a:rPr>
              <a:t>National Technical University of Athens   ·   Archimedes Research Unit, Athena Research Center</a:t>
            </a:r>
          </a:p>
          <a:p>
            <a:pPr algn="ctr">
              <a:spcBef>
                <a:spcPts val="700"/>
              </a:spcBef>
            </a:pPr>
          </a:p>
          <a:p>
            <a:pPr algn="ctr">
              <a:spcBef>
                <a:spcPts val="700"/>
              </a:spcBef>
            </a:pPr>
            <a:r>
              <a:rPr sz="1600" b="1">
                <a:solidFill>
                  <a:srgbClr val="6B4E8E"/>
                </a:solidFill>
                <a:latin typeface="Calibri"/>
              </a:rPr>
              <a:t>FU_Biometry Challenge  ·  MICCAI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Nine tasks, one model — why that is hard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ask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015"/>
            <a:ext cx="5250027" cy="34763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867" y="1600200"/>
            <a:ext cx="525002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A few anatomical landmarks become clinical measurements — fetal growth, labour progression, cardiac structure.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Manual measurement is slow and operator-dependent.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1">
                <a:solidFill>
                  <a:srgbClr val="1A1A1A"/>
                </a:solidFill>
                <a:latin typeface="Calibri"/>
              </a:rPr>
              <a:t>9 tasks, 3 clinical domains</a:t>
            </a:r>
            <a:r>
              <a:rPr sz="1450" b="0">
                <a:solidFill>
                  <a:srgbClr val="1A1A1A"/>
                </a:solidFill>
                <a:latin typeface="Calibri"/>
              </a:rPr>
              <a:t>, 20+ parameters in one benchmark — and task-specific models transfer poorly across scanners and sites.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Labels are scarce: </a:t>
            </a:r>
            <a:r>
              <a:rPr sz="1450" b="1">
                <a:solidFill>
                  <a:srgbClr val="6B4E8E"/>
                </a:solidFill>
                <a:latin typeface="Calibri"/>
              </a:rPr>
              <a:t>only 3.4% labeled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6,768 labeled vs 191,170 unlabeled images.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1">
                <a:solidFill>
                  <a:srgbClr val="1A1A1A"/>
                </a:solidFill>
                <a:latin typeface="Calibri"/>
              </a:rPr>
              <a:t>Three orders of magnitude</a:t>
            </a:r>
            <a:r>
              <a:rPr sz="1450" b="0">
                <a:solidFill>
                  <a:srgbClr val="1A1A1A"/>
                </a:solidFill>
                <a:latin typeface="Calibri"/>
              </a:rPr>
              <a:t> between the largest and smallest task: naive pooled training gives an AoP model that ignores the heart.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The metric dictates the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etric_equal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5566"/>
            <a:ext cx="5250027" cy="32812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5867" y="1600200"/>
            <a:ext cx="525002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Score = </a:t>
            </a:r>
            <a:r>
              <a:rPr sz="1450" b="1">
                <a:solidFill>
                  <a:srgbClr val="1A1A1A"/>
                </a:solidFill>
                <a:latin typeface="Calibri"/>
              </a:rPr>
              <a:t>50% landmark error (MRE)</a:t>
            </a:r>
            <a:r>
              <a:rPr sz="1450" b="0">
                <a:solidFill>
                  <a:srgbClr val="1A1A1A"/>
                </a:solidFill>
                <a:latin typeface="Calibri"/>
              </a:rPr>
              <a:t> + </a:t>
            </a:r>
            <a:r>
              <a:rPr sz="1450" b="1">
                <a:solidFill>
                  <a:srgbClr val="1A1A1A"/>
                </a:solidFill>
                <a:latin typeface="Calibri"/>
              </a:rPr>
              <a:t>50% clinical-measurement error (MAE)</a:t>
            </a:r>
            <a:r>
              <a:rPr sz="1450" b="0">
                <a:solidFill>
                  <a:srgbClr val="1A1A1A"/>
                </a:solidFill>
                <a:latin typeface="Calibri"/>
              </a:rPr>
              <a:t>, macro-averaged with </a:t>
            </a:r>
            <a:r>
              <a:rPr sz="1450" b="1">
                <a:solidFill>
                  <a:srgbClr val="6B4E8E"/>
                </a:solidFill>
                <a:latin typeface="Calibri"/>
              </a:rPr>
              <a:t>equal weight per task</a:t>
            </a:r>
            <a:r>
              <a:rPr sz="14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So a </a:t>
            </a:r>
            <a:r>
              <a:rPr sz="1450" b="1">
                <a:solidFill>
                  <a:srgbClr val="1A1A1A"/>
                </a:solidFill>
                <a:latin typeface="Calibri"/>
              </a:rPr>
              <a:t>38-image task counts exactly as much as a 4,000-image one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the tiny cardiac tasks decide the ranking.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Three consequences that run through the whole system:</a:t>
            </a:r>
          </a:p>
          <a:p>
            <a:pPr algn="l" lvl="1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Calibri"/>
              </a:rPr>
              <a:t>– </a:t>
            </a:r>
            <a:r>
              <a:rPr sz="1300" b="1">
                <a:solidFill>
                  <a:srgbClr val="666666"/>
                </a:solidFill>
                <a:latin typeface="Calibri"/>
              </a:rPr>
              <a:t>√-balanced task sampling</a:t>
            </a:r>
            <a:r>
              <a:rPr sz="1300" b="0">
                <a:solidFill>
                  <a:srgbClr val="666666"/>
                </a:solidFill>
                <a:latin typeface="Calibri"/>
              </a:rPr>
              <a:t> — AoP is seen ~9× as often as PSAX, not 82×</a:t>
            </a:r>
          </a:p>
          <a:p>
            <a:pPr algn="l" lvl="1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Calibri"/>
              </a:rPr>
              <a:t>– loss in </a:t>
            </a:r>
            <a:r>
              <a:rPr sz="1300" b="1">
                <a:solidFill>
                  <a:srgbClr val="666666"/>
                </a:solidFill>
                <a:latin typeface="Calibri"/>
              </a:rPr>
              <a:t>original-image pixels</a:t>
            </a:r>
            <a:r>
              <a:rPr sz="1300" b="0">
                <a:solidFill>
                  <a:srgbClr val="666666"/>
                </a:solidFill>
                <a:latin typeface="Calibri"/>
              </a:rPr>
              <a:t>, not on the 518 training canvas</a:t>
            </a:r>
          </a:p>
          <a:p>
            <a:pPr algn="l" lvl="1">
              <a:spcBef>
                <a:spcPts val="400"/>
              </a:spcBef>
            </a:pPr>
            <a:r>
              <a:rPr sz="1300" b="0">
                <a:solidFill>
                  <a:srgbClr val="666666"/>
                </a:solidFill>
                <a:latin typeface="Calibri"/>
              </a:rPr>
              <a:t>– checkpoint selection on a </a:t>
            </a:r>
            <a:r>
              <a:rPr sz="1300" b="1">
                <a:solidFill>
                  <a:srgbClr val="666666"/>
                </a:solidFill>
                <a:latin typeface="Calibri"/>
              </a:rPr>
              <a:t>metric-aligned blend</a:t>
            </a:r>
            <a:r>
              <a:rPr sz="1300" b="0">
                <a:solidFill>
                  <a:srgbClr val="666666"/>
                </a:solidFill>
                <a:latin typeface="Calibri"/>
              </a:rPr>
              <a:t> — never on canvas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The method in one picture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etho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33522"/>
            <a:ext cx="11185855" cy="34481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61888"/>
            <a:ext cx="105457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Calibri"/>
              </a:rPr>
              <a:t>Phase 1</a:t>
            </a:r>
            <a:r>
              <a:rPr sz="1300" b="0">
                <a:solidFill>
                  <a:srgbClr val="666666"/>
                </a:solidFill>
                <a:latin typeface="Calibri"/>
              </a:rPr>
              <a:t> adapts DINOv2 to ultrasound on the 191k unlabeled frames — </a:t>
            </a:r>
            <a:r>
              <a:rPr sz="1300" b="1">
                <a:solidFill>
                  <a:srgbClr val="666666"/>
                </a:solidFill>
                <a:latin typeface="Calibri"/>
              </a:rPr>
              <a:t>Phase 2</a:t>
            </a:r>
            <a:r>
              <a:rPr sz="1300" b="0">
                <a:solidFill>
                  <a:srgbClr val="666666"/>
                </a:solidFill>
                <a:latin typeface="Calibri"/>
              </a:rPr>
              <a:t> trains an HRNet-style neck and 9 task heads on the 6.7k labeled images. 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The next slides walk left to 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From image to patch tokens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vit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84038"/>
            <a:ext cx="6510034" cy="2804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15874" y="1600200"/>
            <a:ext cx="39900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1">
                <a:solidFill>
                  <a:srgbClr val="1A1A1A"/>
                </a:solidFill>
                <a:latin typeface="Calibri"/>
              </a:rPr>
              <a:t>518 × 518 letterboxed</a:t>
            </a:r>
            <a:r>
              <a:rPr sz="1450" b="0">
                <a:solidFill>
                  <a:srgbClr val="1A1A1A"/>
                </a:solidFill>
                <a:latin typeface="Calibri"/>
              </a:rPr>
              <a:t> input, aspect ratio preserved (native sizes range from ~336 × 544 to 768 × 1024).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DINOv2 ViT-L/14 with registers → </a:t>
            </a:r>
            <a:r>
              <a:rPr sz="1450" b="1">
                <a:solidFill>
                  <a:srgbClr val="1A1A1A"/>
                </a:solidFill>
                <a:latin typeface="Calibri"/>
              </a:rPr>
              <a:t>37 × 37 grid</a:t>
            </a:r>
            <a:r>
              <a:rPr sz="1450" b="0">
                <a:solidFill>
                  <a:srgbClr val="1A1A1A"/>
                </a:solidFill>
                <a:latin typeface="Calibri"/>
              </a:rPr>
              <a:t> of 1024-d patch tokens.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We tap </a:t>
            </a:r>
            <a:r>
              <a:rPr sz="1450" b="1">
                <a:solidFill>
                  <a:srgbClr val="1A1A1A"/>
                </a:solidFill>
                <a:latin typeface="Calibri"/>
              </a:rPr>
              <a:t>four depths</a:t>
            </a:r>
            <a:r>
              <a:rPr sz="1450" b="0">
                <a:solidFill>
                  <a:srgbClr val="1A1A1A"/>
                </a:solidFill>
                <a:latin typeface="Calibri"/>
              </a:rPr>
              <a:t> (blocks 5, 11, 17, 23), not only the last —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coarse semantics and finer detail both reach the decoder</a:t>
            </a:r>
            <a:r>
              <a:rPr sz="145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Phase 1 — self-supervised domain adaptation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1_phase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42" y="1417319"/>
            <a:ext cx="773381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61888"/>
            <a:ext cx="105457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Continued DINOv2 pretraining on </a:t>
            </a:r>
            <a:r>
              <a:rPr sz="1300" b="1">
                <a:solidFill>
                  <a:srgbClr val="666666"/>
                </a:solidFill>
                <a:latin typeface="Calibri"/>
              </a:rPr>
              <a:t>191,170 unlabeled ultrasound frames</a:t>
            </a:r>
            <a:r>
              <a:rPr sz="1300" b="0">
                <a:solidFill>
                  <a:srgbClr val="666666"/>
                </a:solidFill>
                <a:latin typeface="Calibri"/>
              </a:rPr>
              <a:t> — 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no labels are used anywhere in this phase</a:t>
            </a:r>
            <a:r>
              <a:rPr sz="1300" b="0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Phase 1 — the recipe in brief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481328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Multi-crop self-distillation</a:t>
            </a:r>
            <a:r>
              <a:rPr sz="1550" b="0">
                <a:solidFill>
                  <a:srgbClr val="1A1A1A"/>
                </a:solidFill>
                <a:latin typeface="Calibri"/>
              </a:rPr>
              <a:t>: 2 global crops + 6 local crops (98 px); the student sees all 8 views, the </a:t>
            </a:r>
            <a:r>
              <a:rPr sz="1550" b="0" i="1">
                <a:solidFill>
                  <a:srgbClr val="1A1A1A"/>
                </a:solidFill>
                <a:latin typeface="Calibri"/>
              </a:rPr>
              <a:t>EMA teacher</a:t>
            </a:r>
            <a:r>
              <a:rPr sz="1550" b="0">
                <a:solidFill>
                  <a:srgbClr val="1A1A1A"/>
                </a:solidFill>
                <a:latin typeface="Calibri"/>
              </a:rPr>
              <a:t> only the 2 globals.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L  =  L_DINO  +  L_iBOT  +  0.1 · L_KoLeo</a:t>
            </a:r>
            <a:r>
              <a:rPr sz="1550" b="0">
                <a:solidFill>
                  <a:srgbClr val="1A1A1A"/>
                </a:solidFill>
                <a:latin typeface="Calibri"/>
              </a:rPr>
              <a:t> — CLS self-distillation, masked patch-token prediction, and an anti-collapse spread term.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Two-resolution curriculum</a:t>
            </a:r>
            <a:r>
              <a:rPr sz="1550" b="0">
                <a:solidFill>
                  <a:srgbClr val="1A1A1A"/>
                </a:solidFill>
                <a:latin typeface="Calibri"/>
              </a:rPr>
              <a:t>: 100 epochs at 224 px, then a </a:t>
            </a:r>
            <a:r>
              <a:rPr sz="1550" b="1">
                <a:solidFill>
                  <a:srgbClr val="1A1A1A"/>
                </a:solidFill>
                <a:latin typeface="Calibri"/>
              </a:rPr>
              <a:t>4-epoch tail at 518 px</a:t>
            </a:r>
            <a:r>
              <a:rPr sz="1550" b="0">
                <a:solidFill>
                  <a:srgbClr val="1A1A1A"/>
                </a:solidFill>
                <a:latin typeface="Calibri"/>
              </a:rPr>
              <a:t> — the deployment resolution, ~5× cheaper than full-res throughout.  </a:t>
            </a:r>
            <a:r>
              <a:rPr sz="1550" b="0" i="1">
                <a:solidFill>
                  <a:srgbClr val="1A1A1A"/>
                </a:solidFill>
                <a:latin typeface="Calibri"/>
              </a:rPr>
              <a:t>~96 GPU-hours on one A100.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Ultrasound-specific</a:t>
            </a:r>
            <a:r>
              <a:rPr sz="1550" b="0">
                <a:solidFill>
                  <a:srgbClr val="1A1A1A"/>
                </a:solidFill>
                <a:latin typeface="Calibri"/>
              </a:rPr>
              <a:t>: fan bounding-box crop, gentler ±10° rotation (</a:t>
            </a:r>
            <a:r>
              <a:rPr sz="1550" b="0" i="1">
                <a:solidFill>
                  <a:srgbClr val="1A1A1A"/>
                </a:solidFill>
                <a:latin typeface="Calibri"/>
              </a:rPr>
              <a:t>view orientation is semantically meaningful</a:t>
            </a:r>
            <a:r>
              <a:rPr sz="1550" b="0">
                <a:solidFill>
                  <a:srgbClr val="1A1A1A"/>
                </a:solidFill>
                <a:latin typeface="Calibri"/>
              </a:rPr>
              <a:t>), background-heavy crops resampled.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Phase 2 — HRNet-style multi-resolution neck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2_left_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84" y="1417319"/>
            <a:ext cx="910392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61888"/>
            <a:ext cx="105457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Three parallel branches at </a:t>
            </a:r>
            <a:r>
              <a:rPr sz="1300" b="1">
                <a:solidFill>
                  <a:srgbClr val="666666"/>
                </a:solidFill>
                <a:latin typeface="Calibri"/>
              </a:rPr>
              <a:t>37 / 74 / 148</a:t>
            </a:r>
            <a:r>
              <a:rPr sz="1300" b="0">
                <a:solidFill>
                  <a:srgbClr val="666666"/>
                </a:solidFill>
                <a:latin typeface="Calibri"/>
              </a:rPr>
              <a:t> with widths 128 / 96 / 64, two rounds of bidirectional exchange, fused to </a:t>
            </a:r>
            <a:r>
              <a:rPr sz="1300" b="1">
                <a:solidFill>
                  <a:srgbClr val="666666"/>
                </a:solidFill>
                <a:latin typeface="Calibri"/>
              </a:rPr>
              <a:t>148 × 148 × 128</a:t>
            </a:r>
            <a:r>
              <a:rPr sz="1300" b="0">
                <a:solidFill>
                  <a:srgbClr val="666666"/>
                </a:solidFill>
                <a:latin typeface="Calibri"/>
              </a:rPr>
              <a:t>.  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GroupNorm throughout — never BatchNorm.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Phase 2 — task routing and sub-pixel decoding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2_right_h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04" y="1600200"/>
            <a:ext cx="225260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45855" y="1600200"/>
            <a:ext cx="7560039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1">
                <a:solidFill>
                  <a:srgbClr val="1A1A1A"/>
                </a:solidFill>
                <a:latin typeface="Calibri"/>
              </a:rPr>
              <a:t>Nine independent heads</a:t>
            </a:r>
            <a:r>
              <a:rPr sz="1450" b="0">
                <a:solidFill>
                  <a:srgbClr val="1A1A1A"/>
                </a:solidFill>
                <a:latin typeface="Calibri"/>
              </a:rPr>
              <a:t>; the batch's task id selects </a:t>
            </a:r>
            <a:r>
              <a:rPr sz="1450" b="1">
                <a:solidFill>
                  <a:srgbClr val="6B4E8E"/>
                </a:solidFill>
                <a:latin typeface="Calibri"/>
              </a:rPr>
              <a:t>exactly one</a:t>
            </a:r>
            <a:r>
              <a:rPr sz="1450" b="0">
                <a:solidFill>
                  <a:srgbClr val="1A1A1A"/>
                </a:solidFill>
                <a:latin typeface="Calibri"/>
              </a:rPr>
              <a:t>. Landmarks per task: 2 (FUGC, IVC, femur) up to 22 (PLAX).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1">
                <a:solidFill>
                  <a:srgbClr val="1A1A1A"/>
                </a:solidFill>
                <a:latin typeface="Calibri"/>
              </a:rPr>
              <a:t>Soft-argmax</a:t>
            </a:r>
            <a:r>
              <a:rPr sz="1450" b="0">
                <a:solidFill>
                  <a:srgbClr val="1A1A1A"/>
                </a:solidFill>
                <a:latin typeface="Calibri"/>
              </a:rPr>
              <a:t> (τ = 10): temperature-scaled softmax over the logits, then the spatial expectation —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differentiable and sub-pixel</a:t>
            </a:r>
            <a:r>
              <a:rPr sz="1450" b="0">
                <a:solidFill>
                  <a:srgbClr val="1A1A1A"/>
                </a:solidFill>
                <a:latin typeface="Calibri"/>
              </a:rPr>
              <a:t>, so the network is a direct coordinate regressor. Heatmaps are </a:t>
            </a:r>
            <a:r>
              <a:rPr sz="1450" b="1">
                <a:solidFill>
                  <a:srgbClr val="1A1A1A"/>
                </a:solidFill>
                <a:latin typeface="Calibri"/>
              </a:rPr>
              <a:t>never MSE-supervised</a:t>
            </a:r>
            <a:r>
              <a:rPr sz="14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1">
                <a:solidFill>
                  <a:srgbClr val="1A1A1A"/>
                </a:solidFill>
                <a:latin typeface="Calibri"/>
              </a:rPr>
              <a:t>Masked L1</a:t>
            </a:r>
            <a:r>
              <a:rPr sz="1450" b="0">
                <a:solidFill>
                  <a:srgbClr val="1A1A1A"/>
                </a:solidFill>
                <a:latin typeface="Calibri"/>
              </a:rPr>
              <a:t> over annotated landmarks; missing ones are (−1, −1) and contribute no gradient.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Predictions </a:t>
            </a:r>
            <a:r>
              <a:rPr sz="1450" b="1">
                <a:solidFill>
                  <a:srgbClr val="1A1A1A"/>
                </a:solidFill>
                <a:latin typeface="Calibri"/>
              </a:rPr>
              <a:t>inverse-letterboxed to original-image pixels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training in the metric's own units.</a:t>
            </a:r>
          </a:p>
          <a:p>
            <a:pPr algn="l">
              <a:spcBef>
                <a:spcPts val="900"/>
              </a:spcBef>
            </a:pPr>
            <a:r>
              <a:rPr sz="1450" b="0">
                <a:solidFill>
                  <a:srgbClr val="1A1A1A"/>
                </a:solidFill>
                <a:latin typeface="Calibri"/>
              </a:rPr>
              <a:t>•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Training: single A100, AdamW + layer-wise LR decay; the EMA teacher is what gets validated and deployed.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Official challenge evaluation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18872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  <a:latin typeface="Calibri"/>
              </a:rPr>
              <a:t>Validation phase · 619 images · official scorer      (red = worst per column, green = best)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63927" y="1627632"/>
          <a:ext cx="78638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371600"/>
                <a:gridCol w="1554480"/>
                <a:gridCol w="1554480"/>
              </a:tblGrid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latin typeface="Calibri"/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latin typeface="Calibri"/>
                        </a:rPr>
                        <a:t>Landmarks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latin typeface="Calibri"/>
                        </a:rPr>
                        <a:t>MRE (px)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latin typeface="Calibri"/>
                        </a:rPr>
                        <a:t>MAE ↓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HC  (head circumference)   (N=215)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33A30"/>
                          </a:solidFill>
                          <a:latin typeface="Calibri"/>
                        </a:rPr>
                        <a:t>49.07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33A30"/>
                          </a:solidFill>
                          <a:latin typeface="Calibri"/>
                        </a:rPr>
                        <a:t>76.70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FA  (fetal abdomen)   (N=188)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21.61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33A30"/>
                          </a:solidFill>
                          <a:latin typeface="Calibri"/>
                        </a:rPr>
                        <a:t>92.16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fetal_femur   (N=62)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25.33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18.10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FUGC  (cervical)   (N=20)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9.88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11.55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AoP  (angle of progression)   (N=60)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16.02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9.07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PLAX   (N=26)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18.94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9.48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A4C   (N=20)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23.54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20.37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PSAX   (N=18)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33A30"/>
                          </a:solidFill>
                          <a:latin typeface="Calibri"/>
                        </a:rPr>
                        <a:t>39.02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20.00</a:t>
                      </a:r>
                    </a:p>
                  </a:txBody>
                  <a:tcPr anchor="ctr"/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IVC   (N=10)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33A30"/>
                          </a:solidFill>
                          <a:latin typeface="Calibri"/>
                        </a:rPr>
                        <a:t>33.65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9.87</a:t>
                      </a:r>
                    </a:p>
                  </a:txBody>
                  <a:tcPr anchor="ctr"/>
                </a:tc>
              </a:tr>
              <a:tr h="3948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latin typeface="Calibri"/>
                        </a:rPr>
                        <a:t>Overall  (unweighted mean, N=619)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latin typeface="Calibri"/>
                        </a:rPr>
                        <a:t>26.34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latin typeface="Calibri"/>
                        </a:rPr>
                        <a:t>29.70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447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For context, the best leaderboard entry at the time of writing reported </a:t>
            </a:r>
            <a:r>
              <a:rPr sz="1200" b="1">
                <a:solidFill>
                  <a:srgbClr val="666666"/>
                </a:solidFill>
                <a:latin typeface="Calibri"/>
              </a:rPr>
              <a:t>MRE 22.56 px / MAE 29.02</a:t>
            </a:r>
            <a:r>
              <a:rPr sz="1200" b="0">
                <a:solidFill>
                  <a:srgbClr val="666666"/>
                </a:solidFill>
                <a:latin typeface="Calibri"/>
              </a:rPr>
              <a:t> on the same scorer.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Qualitative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3_best_per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068961"/>
            <a:ext cx="11185855" cy="3177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61888"/>
            <a:ext cx="105457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Representative examples across four tasks spanning different clinical domains. Ground truth in </a:t>
            </a:r>
            <a:r>
              <a:rPr sz="1300" b="1">
                <a:solidFill>
                  <a:srgbClr val="666666"/>
                </a:solidFill>
                <a:latin typeface="Calibri"/>
              </a:rPr>
              <a:t>green</a:t>
            </a:r>
            <a:r>
              <a:rPr sz="1300" b="0">
                <a:solidFill>
                  <a:srgbClr val="666666"/>
                </a:solidFill>
                <a:latin typeface="Calibri"/>
              </a:rPr>
              <a:t>, predictions in </a:t>
            </a:r>
            <a:r>
              <a:rPr sz="1300" b="1">
                <a:solidFill>
                  <a:srgbClr val="666666"/>
                </a:solidFill>
                <a:latin typeface="Calibri"/>
              </a:rPr>
              <a:t>red</a:t>
            </a:r>
            <a:r>
              <a:rPr sz="1300" b="0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How long should self-supervised adaptation run?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4a_ssl_duration_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03" y="1623060"/>
            <a:ext cx="3058159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675887"/>
            <a:ext cx="52271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Calibri"/>
              </a:rPr>
              <a:t>(a)  224 px bulk + high-resolution tail</a:t>
            </a:r>
          </a:p>
        </p:txBody>
      </p:sp>
      <p:pic>
        <p:nvPicPr>
          <p:cNvPr id="6" name="Picture 5" descr="fig4b_ssl_duration_full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31" y="1623060"/>
            <a:ext cx="3058159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727" y="3675887"/>
            <a:ext cx="52271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Calibri"/>
              </a:rPr>
              <a:t>(b)  518 px full-resolution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33087"/>
            <a:ext cx="1082009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350" b="0">
                <a:solidFill>
                  <a:srgbClr val="1A1A1A"/>
                </a:solidFill>
                <a:latin typeface="Calibri"/>
              </a:rPr>
              <a:t>• </a:t>
            </a:r>
            <a:r>
              <a:rPr sz="1350" b="1">
                <a:solidFill>
                  <a:srgbClr val="1A1A1A"/>
                </a:solidFill>
                <a:latin typeface="Calibri"/>
              </a:rPr>
              <a:t>Frozen-encoder probe</a:t>
            </a:r>
            <a:r>
              <a:rPr sz="1350" b="0">
                <a:solidFill>
                  <a:srgbClr val="1A1A1A"/>
                </a:solidFill>
                <a:latin typeface="Calibri"/>
              </a:rPr>
              <a:t> (25 epochs, fold 0) isolates representation quality from fine-tuning.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A1A1A"/>
                </a:solidFill>
                <a:latin typeface="Calibri"/>
              </a:rPr>
              <a:t>• Adaptation is </a:t>
            </a:r>
            <a:r>
              <a:rPr sz="1350" b="1">
                <a:solidFill>
                  <a:srgbClr val="6B4E8E"/>
                </a:solidFill>
                <a:latin typeface="Calibri"/>
              </a:rPr>
              <a:t>not monotonic</a:t>
            </a:r>
            <a:r>
              <a:rPr sz="1350" b="0">
                <a:solidFill>
                  <a:srgbClr val="1A1A1A"/>
                </a:solidFill>
                <a:latin typeface="Calibri"/>
              </a:rPr>
              <a:t>: bulk-only MRE bottoms out at </a:t>
            </a:r>
            <a:r>
              <a:rPr sz="1350" b="1">
                <a:solidFill>
                  <a:srgbClr val="1A1A1A"/>
                </a:solidFill>
                <a:latin typeface="Calibri"/>
              </a:rPr>
              <a:t>epoch 20</a:t>
            </a:r>
            <a:r>
              <a:rPr sz="1350" b="0">
                <a:solidFill>
                  <a:srgbClr val="1A1A1A"/>
                </a:solidFill>
                <a:latin typeface="Calibri"/>
              </a:rPr>
              <a:t> (24.70 px); by epoch 100 the blend is </a:t>
            </a:r>
            <a:r>
              <a:rPr sz="1350" b="0" i="1">
                <a:solidFill>
                  <a:srgbClr val="1A1A1A"/>
                </a:solidFill>
                <a:latin typeface="Calibri"/>
              </a:rPr>
              <a:t>worse than the non-adapted encoder</a:t>
            </a:r>
            <a:r>
              <a:rPr sz="1350" b="0">
                <a:solidFill>
                  <a:srgbClr val="1A1A1A"/>
                </a:solidFill>
                <a:latin typeface="Calibri"/>
              </a:rPr>
              <a:t> (0.0974 vs 0.0890).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A1A1A"/>
                </a:solidFill>
                <a:latin typeface="Calibri"/>
              </a:rPr>
              <a:t>• A </a:t>
            </a:r>
            <a:r>
              <a:rPr sz="1350" b="1">
                <a:solidFill>
                  <a:srgbClr val="1A1A1A"/>
                </a:solidFill>
                <a:latin typeface="Calibri"/>
              </a:rPr>
              <a:t>4-epoch 518 px tail rescues</a:t>
            </a:r>
            <a:r>
              <a:rPr sz="1350" b="0">
                <a:solidFill>
                  <a:srgbClr val="1A1A1A"/>
                </a:solidFill>
                <a:latin typeface="Calibri"/>
              </a:rPr>
              <a:t> the later checkpoints — best blend of any checkpoint tested (</a:t>
            </a:r>
            <a:r>
              <a:rPr sz="1350" b="1">
                <a:solidFill>
                  <a:srgbClr val="1A1A1A"/>
                </a:solidFill>
                <a:latin typeface="Calibri"/>
              </a:rPr>
              <a:t>0.0747</a:t>
            </a:r>
            <a:r>
              <a:rPr sz="1350" b="0">
                <a:solidFill>
                  <a:srgbClr val="1A1A1A"/>
                </a:solidFill>
                <a:latin typeface="Calibri"/>
              </a:rPr>
              <a:t>).  We select </a:t>
            </a:r>
            <a:r>
              <a:rPr sz="1350" b="1">
                <a:solidFill>
                  <a:srgbClr val="1A1A1A"/>
                </a:solidFill>
                <a:latin typeface="Calibri"/>
              </a:rPr>
              <a:t>ep104</a:t>
            </a:r>
            <a:r>
              <a:rPr sz="13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A1A1A"/>
                </a:solidFill>
                <a:latin typeface="Calibri"/>
              </a:rPr>
              <a:t>• At matched 20 epochs, full-resolution adaptation is </a:t>
            </a:r>
            <a:r>
              <a:rPr sz="1350" b="1">
                <a:solidFill>
                  <a:srgbClr val="1A1A1A"/>
                </a:solidFill>
                <a:latin typeface="Calibri"/>
              </a:rPr>
              <a:t>worse</a:t>
            </a:r>
            <a:r>
              <a:rPr sz="1350" b="0">
                <a:solidFill>
                  <a:srgbClr val="1A1A1A"/>
                </a:solidFill>
                <a:latin typeface="Calibri"/>
              </a:rPr>
              <a:t> than 224 px (25.96 vs 24.70 px) — </a:t>
            </a:r>
            <a:r>
              <a:rPr sz="1350" b="0" i="1">
                <a:solidFill>
                  <a:srgbClr val="1A1A1A"/>
                </a:solidFill>
                <a:latin typeface="Calibri"/>
              </a:rPr>
              <a:t>the cheap curriculum is also the better one</a:t>
            </a:r>
            <a:r>
              <a:rPr sz="135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Conclusions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28575">
            <a:solidFill>
              <a:srgbClr val="D9C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481328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One model, nine tasks</a:t>
            </a:r>
            <a:r>
              <a:rPr sz="1550" b="0">
                <a:solidFill>
                  <a:srgbClr val="1A1A1A"/>
                </a:solidFill>
                <a:latin typeface="Calibri"/>
              </a:rPr>
              <a:t>: a two-stage DINOv2-HRNet pipeline for heterogeneous ultrasound biometry.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191k unlabeled frames support 6.7k labeled ones</a:t>
            </a:r>
            <a:r>
              <a:rPr sz="1550" b="0">
                <a:solidFill>
                  <a:srgbClr val="1A1A1A"/>
                </a:solidFill>
                <a:latin typeface="Calibri"/>
              </a:rPr>
              <a:t> by separating domain-level representation learning from task-specific localization.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SSL duration is non-monotonic</a:t>
            </a:r>
            <a:r>
              <a:rPr sz="1550" b="0">
                <a:solidFill>
                  <a:srgbClr val="1A1A1A"/>
                </a:solidFill>
                <a:latin typeface="Calibri"/>
              </a:rPr>
              <a:t> — a short high-resolution tail matters more than more low-resolution epochs.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1">
                <a:solidFill>
                  <a:srgbClr val="1A1A1A"/>
                </a:solidFill>
                <a:latin typeface="Calibri"/>
              </a:rPr>
              <a:t>Design follows the metric</a:t>
            </a:r>
            <a:r>
              <a:rPr sz="1550" b="0">
                <a:solidFill>
                  <a:srgbClr val="1A1A1A"/>
                </a:solidFill>
                <a:latin typeface="Calibri"/>
              </a:rPr>
              <a:t>: balanced sampling, original-pixel loss, metric-aligned checkpoint selection.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</a:t>
            </a:r>
            <a:r>
              <a:rPr sz="1550" b="0" i="1">
                <a:solidFill>
                  <a:srgbClr val="1A1A1A"/>
                </a:solidFill>
                <a:latin typeface="Calibri"/>
              </a:rPr>
              <a:t>Future work</a:t>
            </a:r>
            <a:r>
              <a:rPr sz="1550" b="0">
                <a:solidFill>
                  <a:srgbClr val="1A1A1A"/>
                </a:solidFill>
                <a:latin typeface="Calibri"/>
              </a:rPr>
              <a:t>: 5-fold ensembling with multi-scale and intensity TTA; ablating the neck's multi-level fusion and fine-tuning depth.</a:t>
            </a:r>
          </a:p>
          <a:p>
            <a:pPr algn="l">
              <a:spcBef>
                <a:spcPts val="900"/>
              </a:spcBef>
            </a:pPr>
            <a:r>
              <a:rPr sz="1550" b="0">
                <a:solidFill>
                  <a:srgbClr val="1A1A1A"/>
                </a:solidFill>
                <a:latin typeface="Calibri"/>
              </a:rPr>
              <a:t>• Code: </a:t>
            </a:r>
            <a:r>
              <a:rPr sz="1550" b="1">
                <a:solidFill>
                  <a:srgbClr val="1A1A1A"/>
                </a:solidFill>
                <a:latin typeface="Calibri"/>
              </a:rPr>
              <a:t>github.com/abarmper/US-Foundation</a:t>
            </a:r>
            <a:r>
              <a:rPr sz="1550" b="0">
                <a:solidFill>
                  <a:srgbClr val="1A1A1A"/>
                </a:solidFill>
                <a:latin typeface="Calibri"/>
              </a:rPr>
              <a:t>   ·   </a:t>
            </a:r>
            <a:r>
              <a:rPr sz="1550" b="0" i="1">
                <a:solidFill>
                  <a:srgbClr val="1A1A1A"/>
                </a:solidFill>
                <a:latin typeface="Calibri"/>
              </a:rPr>
              <a:t>A100 80GB instances provided by the NVIDIA Academic Hardware Grant Program (MedViLA).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